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5F9F9D6-4054-4567-AF46-B5F7D86BBB5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A76D7D-4355-4DB4-A35F-F6B78F6721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2B8F4F-6C0E-4E81-BDFB-478F0BA93D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DF964E-B7F8-46EE-B21A-3A688CD780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4C5E2B-DE1D-418D-A1D7-6368B735DC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C2C8F0-124B-42B2-99C8-D22829EF9D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DC811D-4616-4E06-A03D-95A24145FA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AE8C99-FF1A-4225-B906-218C5E4438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90C36A-DD8B-40A1-AB61-13DA13EFB4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BEFC78-B00E-4D02-9F18-D3AECB6874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5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943600" y="-1828800"/>
            <a:ext cx="4570920" cy="4570920"/>
          </a:xfrm>
          <a:prstGeom prst="ellipse">
            <a:avLst/>
          </a:prstGeom>
          <a:solidFill>
            <a:srgbClr val="00e5a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858000" y="2743200"/>
            <a:ext cx="3656520" cy="3656520"/>
          </a:xfrm>
          <a:prstGeom prst="ellipse">
            <a:avLst/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731520" y="54864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731520" y="1371600"/>
            <a:ext cx="63997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f8fafc"/>
                </a:solidFill>
                <a:latin typeface="Impact"/>
                <a:ea typeface="Impact"/>
              </a:rPr>
              <a:t>INTRODUÇÃO À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f8fafc"/>
                </a:solidFill>
                <a:latin typeface="Impact"/>
                <a:ea typeface="Impact"/>
              </a:rPr>
              <a:t>CIBERSEGURANÇA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731520" y="320040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e5a0"/>
                </a:solidFill>
                <a:latin typeface="Calibri"/>
                <a:ea typeface="Calibri"/>
              </a:rPr>
              <a:t>Projeto Hackerspace — Bug Bounty &amp; Ethical hacking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731520" y="3749040"/>
            <a:ext cx="6399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Proposta de Projeto Integrador 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Aluno: Fabio Cunha Fonseca Junior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731520" y="4297680"/>
            <a:ext cx="2284920" cy="3564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731520" y="36576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8fafc"/>
                </a:solidFill>
                <a:latin typeface="Impact"/>
                <a:ea typeface="Impact"/>
              </a:rPr>
              <a:t>SUMÁRIO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731520" y="1280160"/>
            <a:ext cx="7679880" cy="5932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868680" y="1280160"/>
            <a:ext cx="5475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e5a0"/>
                </a:solidFill>
                <a:latin typeface="Impact"/>
                <a:ea typeface="Impact"/>
              </a:rPr>
              <a:t>01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0" descr="preencoded.png"/>
          <p:cNvPicPr/>
          <p:nvPr/>
        </p:nvPicPr>
        <p:blipFill>
          <a:blip r:embed="rId1"/>
          <a:stretch/>
        </p:blipFill>
        <p:spPr>
          <a:xfrm>
            <a:off x="1463040" y="138996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19" name="Text 3"/>
          <p:cNvSpPr/>
          <p:nvPr/>
        </p:nvSpPr>
        <p:spPr>
          <a:xfrm>
            <a:off x="2011680" y="129852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Calibri"/>
                <a:ea typeface="Calibri"/>
              </a:rPr>
              <a:t>Contextualização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2011680" y="158184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O cenário da cibersegurança global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731520" y="2011680"/>
            <a:ext cx="7679880" cy="5932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868680" y="2011680"/>
            <a:ext cx="5475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e5a0"/>
                </a:solidFill>
                <a:latin typeface="Impact"/>
                <a:ea typeface="Impact"/>
              </a:rPr>
              <a:t>02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Image 1" descr="preencoded.png"/>
          <p:cNvPicPr/>
          <p:nvPr/>
        </p:nvPicPr>
        <p:blipFill>
          <a:blip r:embed="rId2"/>
          <a:stretch/>
        </p:blipFill>
        <p:spPr>
          <a:xfrm>
            <a:off x="1463040" y="212148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24" name="Text 7"/>
          <p:cNvSpPr/>
          <p:nvPr/>
        </p:nvSpPr>
        <p:spPr>
          <a:xfrm>
            <a:off x="2011680" y="203004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Calibri"/>
                <a:ea typeface="Calibri"/>
              </a:rPr>
              <a:t>Objetivo Geral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2011680" y="231336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Direcionamento para hacking ético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731520" y="2743200"/>
            <a:ext cx="7679880" cy="5932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868680" y="2743200"/>
            <a:ext cx="5475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e5a0"/>
                </a:solidFill>
                <a:latin typeface="Impact"/>
                <a:ea typeface="Impact"/>
              </a:rPr>
              <a:t>03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" name="Image 2" descr="preencoded.png"/>
          <p:cNvPicPr/>
          <p:nvPr/>
        </p:nvPicPr>
        <p:blipFill>
          <a:blip r:embed="rId3"/>
          <a:stretch/>
        </p:blipFill>
        <p:spPr>
          <a:xfrm>
            <a:off x="1463040" y="285300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29" name="Text 11"/>
          <p:cNvSpPr/>
          <p:nvPr/>
        </p:nvSpPr>
        <p:spPr>
          <a:xfrm>
            <a:off x="2011680" y="276156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Calibri"/>
                <a:ea typeface="Calibri"/>
              </a:rPr>
              <a:t>Objetivo Específico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2011680" y="304488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Hackerspace universitário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731520" y="3474720"/>
            <a:ext cx="7679880" cy="5932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868680" y="3474720"/>
            <a:ext cx="5475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e5a0"/>
                </a:solidFill>
                <a:latin typeface="Impact"/>
                <a:ea typeface="Impact"/>
              </a:rPr>
              <a:t>04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" name="Image 3" descr="preencoded.png"/>
          <p:cNvPicPr/>
          <p:nvPr/>
        </p:nvPicPr>
        <p:blipFill>
          <a:blip r:embed="rId4"/>
          <a:stretch/>
        </p:blipFill>
        <p:spPr>
          <a:xfrm>
            <a:off x="1463040" y="358452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34" name="Text 15"/>
          <p:cNvSpPr/>
          <p:nvPr/>
        </p:nvSpPr>
        <p:spPr>
          <a:xfrm>
            <a:off x="2011680" y="349308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Calibri"/>
                <a:ea typeface="Calibri"/>
              </a:rPr>
              <a:t>Justificativa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2011680" y="377640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Por que este projeto é necessário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731520" y="4206240"/>
            <a:ext cx="7679880" cy="5932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868680" y="4206240"/>
            <a:ext cx="5475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e5a0"/>
                </a:solidFill>
                <a:latin typeface="Impact"/>
                <a:ea typeface="Impact"/>
              </a:rPr>
              <a:t>05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" name="Image 4" descr="preencoded.png"/>
          <p:cNvPicPr/>
          <p:nvPr/>
        </p:nvPicPr>
        <p:blipFill>
          <a:blip r:embed="rId5"/>
          <a:stretch/>
        </p:blipFill>
        <p:spPr>
          <a:xfrm>
            <a:off x="1463040" y="43160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39" name="Text 19"/>
          <p:cNvSpPr/>
          <p:nvPr/>
        </p:nvSpPr>
        <p:spPr>
          <a:xfrm>
            <a:off x="2011680" y="422460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Calibri"/>
                <a:ea typeface="Calibri"/>
              </a:rPr>
              <a:t>Arquitetura Proposta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2011680" y="450792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Módulos e estrutura das aulas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731520" y="274320"/>
            <a:ext cx="913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e5a0"/>
                </a:solidFill>
                <a:latin typeface="Impact"/>
                <a:ea typeface="Impact"/>
              </a:rPr>
              <a:t>01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731520" y="73152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8fafc"/>
                </a:solidFill>
                <a:latin typeface="Impact"/>
                <a:ea typeface="Impact"/>
              </a:rPr>
              <a:t>CONTEXTUALIZAÇÃO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731520" y="128016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O cenário da cibersegurança no mundo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731520" y="1920240"/>
            <a:ext cx="2559240" cy="28335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731520" y="1920240"/>
            <a:ext cx="2559240" cy="4464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1005840" y="219456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47" name="Text 5"/>
          <p:cNvSpPr/>
          <p:nvPr/>
        </p:nvSpPr>
        <p:spPr>
          <a:xfrm>
            <a:off x="914400" y="274320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Calibri"/>
                <a:ea typeface="Calibri"/>
              </a:rPr>
              <a:t>Econômica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914400" y="3108960"/>
            <a:ext cx="21934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O custo global do cibercrime deve ultrapassar US$ 10 trilhões anuais. Empresas investem bilhões em defesa digital.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3520440" y="1920240"/>
            <a:ext cx="2559240" cy="28335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3520440" y="1920240"/>
            <a:ext cx="2559240" cy="446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Image 1" descr="preencoded.png"/>
          <p:cNvPicPr/>
          <p:nvPr/>
        </p:nvPicPr>
        <p:blipFill>
          <a:blip r:embed="rId2"/>
          <a:stretch/>
        </p:blipFill>
        <p:spPr>
          <a:xfrm>
            <a:off x="3794760" y="219456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2" name="Text 9"/>
          <p:cNvSpPr/>
          <p:nvPr/>
        </p:nvSpPr>
        <p:spPr>
          <a:xfrm>
            <a:off x="3703320" y="274320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Calibri"/>
                <a:ea typeface="Calibri"/>
              </a:rPr>
              <a:t>Geopolítica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3703320" y="3108960"/>
            <a:ext cx="21934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Nações conduzem operações cibernéticas ofensivas. Guerras híbridas incluem ataques a infraestrutura crítica.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6309360" y="1920240"/>
            <a:ext cx="2559240" cy="28335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6309360" y="1920240"/>
            <a:ext cx="2559240" cy="446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" name="Image 2" descr="preencoded.png"/>
          <p:cNvPicPr/>
          <p:nvPr/>
        </p:nvPicPr>
        <p:blipFill>
          <a:blip r:embed="rId3"/>
          <a:stretch/>
        </p:blipFill>
        <p:spPr>
          <a:xfrm>
            <a:off x="6583680" y="219456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7" name="Text 13"/>
          <p:cNvSpPr/>
          <p:nvPr/>
        </p:nvSpPr>
        <p:spPr>
          <a:xfrm>
            <a:off x="6492240" y="274320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Calibri"/>
                <a:ea typeface="Calibri"/>
              </a:rPr>
              <a:t>Social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6492240" y="3108960"/>
            <a:ext cx="21934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Vazamentos de dados afetam milhões de pessoas. Privacidade digital é um direito fundamental ameaçado diariamente.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731520" y="36576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8fafc"/>
                </a:solidFill>
                <a:latin typeface="Impact"/>
                <a:ea typeface="Impact"/>
              </a:rPr>
              <a:t>ÁREAS DE ATUAÇÃO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731520" y="1280160"/>
            <a:ext cx="2559240" cy="15991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731520" y="1280160"/>
            <a:ext cx="53640" cy="159912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960120" y="14630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63" name="Text 3"/>
          <p:cNvSpPr/>
          <p:nvPr/>
        </p:nvSpPr>
        <p:spPr>
          <a:xfrm>
            <a:off x="960120" y="1874520"/>
            <a:ext cx="210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Pentester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960120" y="2148840"/>
            <a:ext cx="2102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Testa sistemas em busca de vulnerabilidades de forma autorizada e estruturada.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3520440" y="1280160"/>
            <a:ext cx="2559240" cy="15991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3520440" y="1280160"/>
            <a:ext cx="53640" cy="15991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" name="Image 1" descr="preencoded.png"/>
          <p:cNvPicPr/>
          <p:nvPr/>
        </p:nvPicPr>
        <p:blipFill>
          <a:blip r:embed="rId2"/>
          <a:stretch/>
        </p:blipFill>
        <p:spPr>
          <a:xfrm>
            <a:off x="3749040" y="14630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68" name="Text 7"/>
          <p:cNvSpPr/>
          <p:nvPr/>
        </p:nvSpPr>
        <p:spPr>
          <a:xfrm>
            <a:off x="3749040" y="1874520"/>
            <a:ext cx="210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Red Team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3749040" y="2148840"/>
            <a:ext cx="2102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Simula ataques reais contra organizações para testar defesas de ponta a ponta.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6309360" y="1280160"/>
            <a:ext cx="2559240" cy="15991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6309360" y="1280160"/>
            <a:ext cx="53640" cy="15991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" name="Image 2" descr="preencoded.png"/>
          <p:cNvPicPr/>
          <p:nvPr/>
        </p:nvPicPr>
        <p:blipFill>
          <a:blip r:embed="rId3"/>
          <a:stretch/>
        </p:blipFill>
        <p:spPr>
          <a:xfrm>
            <a:off x="6537960" y="14630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73" name="Text 11"/>
          <p:cNvSpPr/>
          <p:nvPr/>
        </p:nvSpPr>
        <p:spPr>
          <a:xfrm>
            <a:off x="6537960" y="1874520"/>
            <a:ext cx="210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Blue Team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6537960" y="2148840"/>
            <a:ext cx="2102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Defende sistemas, monitora ameaças e responde a incidentes de segurança.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731520" y="3108960"/>
            <a:ext cx="2559240" cy="15991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731520" y="3108960"/>
            <a:ext cx="53640" cy="159912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3" descr="preencoded.png"/>
          <p:cNvPicPr/>
          <p:nvPr/>
        </p:nvPicPr>
        <p:blipFill>
          <a:blip r:embed="rId4"/>
          <a:stretch/>
        </p:blipFill>
        <p:spPr>
          <a:xfrm>
            <a:off x="960120" y="32918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78" name="Text 15"/>
          <p:cNvSpPr/>
          <p:nvPr/>
        </p:nvSpPr>
        <p:spPr>
          <a:xfrm>
            <a:off x="960120" y="3703320"/>
            <a:ext cx="210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Bug Bounty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960120" y="3977640"/>
            <a:ext cx="2102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Pesquisa vulnerabilidades em programas de recompensa de empresas como Google e Meta.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17"/>
          <p:cNvSpPr/>
          <p:nvPr/>
        </p:nvSpPr>
        <p:spPr>
          <a:xfrm>
            <a:off x="3520440" y="3108960"/>
            <a:ext cx="2559240" cy="15991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3520440" y="3108960"/>
            <a:ext cx="53640" cy="15991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Image 4" descr="preencoded.png"/>
          <p:cNvPicPr/>
          <p:nvPr/>
        </p:nvPicPr>
        <p:blipFill>
          <a:blip r:embed="rId5"/>
          <a:stretch/>
        </p:blipFill>
        <p:spPr>
          <a:xfrm>
            <a:off x="3749040" y="32918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83" name="Text 19"/>
          <p:cNvSpPr/>
          <p:nvPr/>
        </p:nvSpPr>
        <p:spPr>
          <a:xfrm>
            <a:off x="3749040" y="3703320"/>
            <a:ext cx="210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Security Research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20"/>
          <p:cNvSpPr/>
          <p:nvPr/>
        </p:nvSpPr>
        <p:spPr>
          <a:xfrm>
            <a:off x="3749040" y="3977640"/>
            <a:ext cx="2102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Descobre vulnerabilidades inéditas (0-day) em softwares e protocolos.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731520" y="274320"/>
            <a:ext cx="913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e5a0"/>
                </a:solidFill>
                <a:latin typeface="Impact"/>
                <a:ea typeface="Impact"/>
              </a:rPr>
              <a:t>02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731520" y="73152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8fafc"/>
                </a:solidFill>
                <a:latin typeface="Impact"/>
                <a:ea typeface="Impact"/>
              </a:rPr>
              <a:t>OBJETIVO GERAL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731520" y="1645920"/>
            <a:ext cx="7679880" cy="2284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731520" y="1645920"/>
            <a:ext cx="7679880" cy="5364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" name="Image 0" descr="preencoded.png"/>
          <p:cNvPicPr/>
          <p:nvPr/>
        </p:nvPicPr>
        <p:blipFill>
          <a:blip r:embed="rId1"/>
          <a:stretch/>
        </p:blipFill>
        <p:spPr>
          <a:xfrm>
            <a:off x="1097280" y="196596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90" name="Text 4"/>
          <p:cNvSpPr/>
          <p:nvPr/>
        </p:nvSpPr>
        <p:spPr>
          <a:xfrm>
            <a:off x="1828800" y="1828800"/>
            <a:ext cx="62168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8fafc"/>
                </a:solidFill>
                <a:latin typeface="Calibri"/>
                <a:ea typeface="Calibri"/>
              </a:rPr>
              <a:t>Direcionar conteúdos teóricos e práticos para quem deseja iniciar seus estudos em segurança ofensiva.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1097280" y="2834640"/>
            <a:ext cx="69483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Construir uma base sólida de conhecimento que abranja desde fundamentos de redes e web até técnicas avançadas de reconhecimento e avaliação de vulnerabilidades, introduzindo o estudante para certificações, programas de bug bounty e o mercado de trabalho.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731520" y="4206240"/>
            <a:ext cx="1461960" cy="410400"/>
          </a:xfrm>
          <a:prstGeom prst="rect">
            <a:avLst/>
          </a:prstGeom>
          <a:solidFill>
            <a:srgbClr val="00e5a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731520" y="42062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e5a0"/>
                </a:solidFill>
                <a:latin typeface="Calibri"/>
                <a:ea typeface="Calibri"/>
              </a:rPr>
              <a:t>Network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8"/>
          <p:cNvSpPr/>
          <p:nvPr/>
        </p:nvSpPr>
        <p:spPr>
          <a:xfrm>
            <a:off x="2340720" y="4206240"/>
            <a:ext cx="1461960" cy="410400"/>
          </a:xfrm>
          <a:prstGeom prst="rect">
            <a:avLst/>
          </a:prstGeom>
          <a:solidFill>
            <a:srgbClr val="00e5a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2340720" y="42062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e5a0"/>
                </a:solidFill>
                <a:latin typeface="Calibri"/>
                <a:ea typeface="Calibri"/>
              </a:rPr>
              <a:t>Web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3950280" y="4206240"/>
            <a:ext cx="1461960" cy="410400"/>
          </a:xfrm>
          <a:prstGeom prst="rect">
            <a:avLst/>
          </a:prstGeom>
          <a:solidFill>
            <a:srgbClr val="00e5a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3950280" y="42062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e5a0"/>
                </a:solidFill>
                <a:latin typeface="Calibri"/>
                <a:ea typeface="Calibri"/>
              </a:rPr>
              <a:t>Client side x Server side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5559480" y="4206240"/>
            <a:ext cx="1461960" cy="410400"/>
          </a:xfrm>
          <a:prstGeom prst="rect">
            <a:avLst/>
          </a:prstGeom>
          <a:solidFill>
            <a:srgbClr val="00e5a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5559480" y="42062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e5a0"/>
                </a:solidFill>
                <a:latin typeface="Calibri"/>
                <a:ea typeface="Calibri"/>
              </a:rPr>
              <a:t>Reconnaissance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4"/>
          <p:cNvSpPr/>
          <p:nvPr/>
        </p:nvSpPr>
        <p:spPr>
          <a:xfrm>
            <a:off x="7169040" y="4206240"/>
            <a:ext cx="1461960" cy="410400"/>
          </a:xfrm>
          <a:prstGeom prst="rect">
            <a:avLst/>
          </a:prstGeom>
          <a:solidFill>
            <a:srgbClr val="00e5a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7169040" y="42062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e5a0"/>
                </a:solidFill>
                <a:latin typeface="Calibri"/>
                <a:ea typeface="Calibri"/>
              </a:rPr>
              <a:t>Exploits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731520" y="274320"/>
            <a:ext cx="913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e5a0"/>
                </a:solidFill>
                <a:latin typeface="Impact"/>
                <a:ea typeface="Impact"/>
              </a:rPr>
              <a:t>03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731520" y="73152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8fafc"/>
                </a:solidFill>
                <a:latin typeface="Impact"/>
                <a:ea typeface="Impact"/>
              </a:rPr>
              <a:t>OBJETIVO ESPECÍFICO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731520" y="13716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e5a0"/>
                </a:solidFill>
                <a:latin typeface="Calibri"/>
                <a:ea typeface="Calibri"/>
              </a:rPr>
              <a:t>Formar um Hackerspace na Fatec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731520" y="2011680"/>
            <a:ext cx="3747960" cy="12333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914400" y="217620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107" name="Text 4"/>
          <p:cNvSpPr/>
          <p:nvPr/>
        </p:nvSpPr>
        <p:spPr>
          <a:xfrm>
            <a:off x="1463040" y="214884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Pesquisa Colaborativa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1463040" y="2514600"/>
            <a:ext cx="2742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Estudantes pesquisam e compartilham estudos, técnicas e descobertas em segurança ofensiva.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4754880" y="2011680"/>
            <a:ext cx="3747960" cy="12333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" name="Image 1" descr="preencoded.png"/>
          <p:cNvPicPr/>
          <p:nvPr/>
        </p:nvPicPr>
        <p:blipFill>
          <a:blip r:embed="rId2"/>
          <a:stretch/>
        </p:blipFill>
        <p:spPr>
          <a:xfrm>
            <a:off x="4937760" y="217620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111" name="Text 7"/>
          <p:cNvSpPr/>
          <p:nvPr/>
        </p:nvSpPr>
        <p:spPr>
          <a:xfrm>
            <a:off x="5486400" y="214884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Bug Bounty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5486400" y="2514600"/>
            <a:ext cx="2742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Participação ativa e colaborativa em programas de bug bounty de empresas reais.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731520" y="3429000"/>
            <a:ext cx="3747960" cy="12333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Image 2" descr="preencoded.png"/>
          <p:cNvPicPr/>
          <p:nvPr/>
        </p:nvPicPr>
        <p:blipFill>
          <a:blip r:embed="rId3"/>
          <a:stretch/>
        </p:blipFill>
        <p:spPr>
          <a:xfrm>
            <a:off x="914400" y="359352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115" name="Text 10"/>
          <p:cNvSpPr/>
          <p:nvPr/>
        </p:nvSpPr>
        <p:spPr>
          <a:xfrm>
            <a:off x="1463040" y="356616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Comunidade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1463040" y="3931920"/>
            <a:ext cx="2742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Espaço de troca de conhecimento, mentoria entre pares e construção de portfólio.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2"/>
          <p:cNvSpPr/>
          <p:nvPr/>
        </p:nvSpPr>
        <p:spPr>
          <a:xfrm>
            <a:off x="4754880" y="3429000"/>
            <a:ext cx="3747960" cy="12333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3" descr="preencoded.png"/>
          <p:cNvPicPr/>
          <p:nvPr/>
        </p:nvPicPr>
        <p:blipFill>
          <a:blip r:embed="rId4"/>
          <a:stretch/>
        </p:blipFill>
        <p:spPr>
          <a:xfrm>
            <a:off x="4937760" y="359352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119" name="Text 13"/>
          <p:cNvSpPr/>
          <p:nvPr/>
        </p:nvSpPr>
        <p:spPr>
          <a:xfrm>
            <a:off x="5486400" y="356616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Calibri"/>
                <a:ea typeface="Calibri"/>
              </a:rPr>
              <a:t>Formação Prática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5486400" y="3931920"/>
            <a:ext cx="2742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Ambiente hands-on que complementa a formação acadêmica com habilidades do mercado.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731520" y="274320"/>
            <a:ext cx="913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e5a0"/>
                </a:solidFill>
                <a:latin typeface="Impact"/>
                <a:ea typeface="Impact"/>
              </a:rPr>
              <a:t>04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731520" y="73152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8fafc"/>
                </a:solidFill>
                <a:latin typeface="Impact"/>
                <a:ea typeface="Impact"/>
              </a:rPr>
              <a:t>JUSTIFICATIVA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731520" y="1554480"/>
            <a:ext cx="3747960" cy="1370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731520" y="1554480"/>
            <a:ext cx="53640" cy="13705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960120" y="16916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126" name="Text 4"/>
          <p:cNvSpPr/>
          <p:nvPr/>
        </p:nvSpPr>
        <p:spPr>
          <a:xfrm>
            <a:off x="1463040" y="166428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Salários altos, poucos profissionais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960120" y="2103120"/>
            <a:ext cx="32907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Cibersegurança é uma das áreas mais bem remuneradas de TI, mas há um déficit global de milhões de profissionais qualificados.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6"/>
          <p:cNvSpPr/>
          <p:nvPr/>
        </p:nvSpPr>
        <p:spPr>
          <a:xfrm>
            <a:off x="4754880" y="1554480"/>
            <a:ext cx="3747960" cy="1370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4754880" y="1554480"/>
            <a:ext cx="53640" cy="13705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0" name="Image 1" descr="preencoded.png"/>
          <p:cNvPicPr/>
          <p:nvPr/>
        </p:nvPicPr>
        <p:blipFill>
          <a:blip r:embed="rId2"/>
          <a:stretch/>
        </p:blipFill>
        <p:spPr>
          <a:xfrm>
            <a:off x="4983480" y="16916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131" name="Text 8"/>
          <p:cNvSpPr/>
          <p:nvPr/>
        </p:nvSpPr>
        <p:spPr>
          <a:xfrm>
            <a:off x="5486400" y="166428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Universidades não acompanham o mercado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4983480" y="2103120"/>
            <a:ext cx="32907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As grades curriculares não conseguem acompanhar a volatilidade e exigências do mercado, especialmente em segurança ofensiva.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731520" y="3154680"/>
            <a:ext cx="3747960" cy="1370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731520" y="3154680"/>
            <a:ext cx="53640" cy="13705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" name="Image 2" descr="preencoded.png"/>
          <p:cNvPicPr/>
          <p:nvPr/>
        </p:nvPicPr>
        <p:blipFill>
          <a:blip r:embed="rId3"/>
          <a:stretch/>
        </p:blipFill>
        <p:spPr>
          <a:xfrm>
            <a:off x="960120" y="32918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136" name="Text 12"/>
          <p:cNvSpPr/>
          <p:nvPr/>
        </p:nvSpPr>
        <p:spPr>
          <a:xfrm>
            <a:off x="1463040" y="326448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Certificações inacessíveis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960120" y="3703320"/>
            <a:ext cx="32907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Certificações como OSCP, PenTest+ e CRTO possuem custos elevados, criando barreiras financeiras para estudantes universitários.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4"/>
          <p:cNvSpPr/>
          <p:nvPr/>
        </p:nvSpPr>
        <p:spPr>
          <a:xfrm>
            <a:off x="4754880" y="3154680"/>
            <a:ext cx="3747960" cy="1370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4754880" y="3154680"/>
            <a:ext cx="53640" cy="13705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0" name="Image 3" descr="preencoded.png"/>
          <p:cNvPicPr/>
          <p:nvPr/>
        </p:nvPicPr>
        <p:blipFill>
          <a:blip r:embed="rId4"/>
          <a:stretch/>
        </p:blipFill>
        <p:spPr>
          <a:xfrm>
            <a:off x="4983480" y="329184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141" name="Text 16"/>
          <p:cNvSpPr/>
          <p:nvPr/>
        </p:nvSpPr>
        <p:spPr>
          <a:xfrm>
            <a:off x="5486400" y="326448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Calibri"/>
                <a:ea typeface="Calibri"/>
              </a:rPr>
              <a:t>Comunidades nichadas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7"/>
          <p:cNvSpPr/>
          <p:nvPr/>
        </p:nvSpPr>
        <p:spPr>
          <a:xfrm>
            <a:off x="4983480" y="3703320"/>
            <a:ext cx="32907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Comunidades com bons recursos e pesquisas de hacking são geralmente de difícil acesso para quem está começando.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8"/>
          <p:cNvSpPr/>
          <p:nvPr/>
        </p:nvSpPr>
        <p:spPr>
          <a:xfrm>
            <a:off x="731520" y="4617720"/>
            <a:ext cx="7679880" cy="3564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9"/>
          <p:cNvSpPr/>
          <p:nvPr/>
        </p:nvSpPr>
        <p:spPr>
          <a:xfrm>
            <a:off x="731520" y="4709160"/>
            <a:ext cx="7679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Este projeto buscar preencher a lacuna entre academia e mercado, democratizando o acesso ao conhecimento em segurança ofensiva.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731520" y="274320"/>
            <a:ext cx="913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e5a0"/>
                </a:solidFill>
                <a:latin typeface="Impact"/>
                <a:ea typeface="Impact"/>
              </a:rPr>
              <a:t>05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31520" y="73152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8fafc"/>
                </a:solidFill>
                <a:latin typeface="Impact"/>
                <a:ea typeface="Impact"/>
              </a:rPr>
              <a:t>ARQUITETURA PROPOSTA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731520" y="128016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Módulos das aulas de introdução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731520" y="3063240"/>
            <a:ext cx="7679880" cy="2628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1234440" y="2926080"/>
            <a:ext cx="273240" cy="27324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1234440" y="292608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f1c"/>
                </a:solidFill>
                <a:latin typeface="Calibri"/>
                <a:ea typeface="Calibri"/>
              </a:rPr>
              <a:t>M1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640080" y="1691640"/>
            <a:ext cx="1461960" cy="1187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640080" y="2843640"/>
            <a:ext cx="1461960" cy="356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3" name="Image 0" descr="preencoded.png"/>
          <p:cNvPicPr/>
          <p:nvPr/>
        </p:nvPicPr>
        <p:blipFill>
          <a:blip r:embed="rId1"/>
          <a:stretch/>
        </p:blipFill>
        <p:spPr>
          <a:xfrm>
            <a:off x="749880" y="1783080"/>
            <a:ext cx="273240" cy="273240"/>
          </a:xfrm>
          <a:prstGeom prst="rect">
            <a:avLst/>
          </a:prstGeom>
          <a:ln w="0">
            <a:noFill/>
          </a:ln>
        </p:spPr>
      </p:pic>
      <p:sp>
        <p:nvSpPr>
          <p:cNvPr id="154" name="Text 8"/>
          <p:cNvSpPr/>
          <p:nvPr/>
        </p:nvSpPr>
        <p:spPr>
          <a:xfrm>
            <a:off x="1097280" y="176472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8fafc"/>
                </a:solidFill>
                <a:latin typeface="Calibri"/>
                <a:ea typeface="Calibri"/>
              </a:rPr>
              <a:t>Fundamentos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8fafc"/>
                </a:solidFill>
                <a:latin typeface="Calibri"/>
                <a:ea typeface="Calibri"/>
              </a:rPr>
              <a:t>Network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731520" y="2286000"/>
            <a:ext cx="1279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cbd5e1"/>
                </a:solidFill>
                <a:latin typeface="Calibri"/>
                <a:ea typeface="Calibri"/>
              </a:rPr>
              <a:t>TCP/IP, DNS, HTTP e modelo OSI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2880360" y="2926080"/>
            <a:ext cx="273240" cy="2732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2880360" y="292608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f1c"/>
                </a:solidFill>
                <a:latin typeface="Calibri"/>
                <a:ea typeface="Calibri"/>
              </a:rPr>
              <a:t>M2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2286000" y="3383280"/>
            <a:ext cx="1461960" cy="1187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2286000" y="3383280"/>
            <a:ext cx="1461960" cy="3564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0" name="Image 1" descr="preencoded.png"/>
          <p:cNvPicPr/>
          <p:nvPr/>
        </p:nvPicPr>
        <p:blipFill>
          <a:blip r:embed="rId2"/>
          <a:stretch/>
        </p:blipFill>
        <p:spPr>
          <a:xfrm>
            <a:off x="2395800" y="3474720"/>
            <a:ext cx="273240" cy="273240"/>
          </a:xfrm>
          <a:prstGeom prst="rect">
            <a:avLst/>
          </a:prstGeom>
          <a:ln w="0">
            <a:noFill/>
          </a:ln>
        </p:spPr>
      </p:pic>
      <p:sp>
        <p:nvSpPr>
          <p:cNvPr id="161" name="Text 14"/>
          <p:cNvSpPr/>
          <p:nvPr/>
        </p:nvSpPr>
        <p:spPr>
          <a:xfrm>
            <a:off x="2743200" y="345636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8fafc"/>
                </a:solidFill>
                <a:latin typeface="Calibri"/>
                <a:ea typeface="Calibri"/>
              </a:rPr>
              <a:t>Fundamentos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8fafc"/>
                </a:solidFill>
                <a:latin typeface="Calibri"/>
                <a:ea typeface="Calibri"/>
              </a:rPr>
              <a:t>Web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2377440" y="3886200"/>
            <a:ext cx="1279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cbd5e1"/>
                </a:solidFill>
                <a:latin typeface="Calibri"/>
                <a:ea typeface="Calibri"/>
              </a:rPr>
              <a:t>HTML, JS, APIs REST, cookies, sessions, integrações e banco de dados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6"/>
          <p:cNvSpPr/>
          <p:nvPr/>
        </p:nvSpPr>
        <p:spPr>
          <a:xfrm>
            <a:off x="4526280" y="2926080"/>
            <a:ext cx="273240" cy="27324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4526280" y="292608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f1c"/>
                </a:solidFill>
                <a:latin typeface="Calibri"/>
                <a:ea typeface="Calibri"/>
              </a:rPr>
              <a:t>M3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18"/>
          <p:cNvSpPr/>
          <p:nvPr/>
        </p:nvSpPr>
        <p:spPr>
          <a:xfrm>
            <a:off x="3931920" y="1691640"/>
            <a:ext cx="1461960" cy="1187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9"/>
          <p:cNvSpPr/>
          <p:nvPr/>
        </p:nvSpPr>
        <p:spPr>
          <a:xfrm>
            <a:off x="3931920" y="2843640"/>
            <a:ext cx="1461960" cy="356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7" name="Image 2" descr="preencoded.png"/>
          <p:cNvPicPr/>
          <p:nvPr/>
        </p:nvPicPr>
        <p:blipFill>
          <a:blip r:embed="rId3"/>
          <a:stretch/>
        </p:blipFill>
        <p:spPr>
          <a:xfrm>
            <a:off x="4041720" y="1783080"/>
            <a:ext cx="273240" cy="273240"/>
          </a:xfrm>
          <a:prstGeom prst="rect">
            <a:avLst/>
          </a:prstGeom>
          <a:ln w="0">
            <a:noFill/>
          </a:ln>
        </p:spPr>
      </p:pic>
      <p:sp>
        <p:nvSpPr>
          <p:cNvPr id="168" name="Text 20"/>
          <p:cNvSpPr/>
          <p:nvPr/>
        </p:nvSpPr>
        <p:spPr>
          <a:xfrm>
            <a:off x="4389120" y="176472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8fafc"/>
                </a:solidFill>
                <a:latin typeface="Calibri"/>
                <a:ea typeface="Calibri"/>
              </a:rPr>
              <a:t>Ambiente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4023360" y="2194560"/>
            <a:ext cx="1279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cbd5e1"/>
                </a:solidFill>
                <a:latin typeface="Calibri"/>
                <a:ea typeface="Calibri"/>
              </a:rPr>
              <a:t>Kali Linux, Docker, VPN, labs virtuais, proxies (Burp Suite, Caido)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6172200" y="2926080"/>
            <a:ext cx="273240" cy="27324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23"/>
          <p:cNvSpPr/>
          <p:nvPr/>
        </p:nvSpPr>
        <p:spPr>
          <a:xfrm>
            <a:off x="6172200" y="292608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f1c"/>
                </a:solidFill>
                <a:latin typeface="Calibri"/>
                <a:ea typeface="Calibri"/>
              </a:rPr>
              <a:t>M4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24"/>
          <p:cNvSpPr/>
          <p:nvPr/>
        </p:nvSpPr>
        <p:spPr>
          <a:xfrm>
            <a:off x="5577840" y="3383280"/>
            <a:ext cx="1461960" cy="1187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25"/>
          <p:cNvSpPr/>
          <p:nvPr/>
        </p:nvSpPr>
        <p:spPr>
          <a:xfrm>
            <a:off x="5577840" y="3383280"/>
            <a:ext cx="1461960" cy="356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4" name="Image 3" descr="preencoded.png"/>
          <p:cNvPicPr/>
          <p:nvPr/>
        </p:nvPicPr>
        <p:blipFill>
          <a:blip r:embed="rId4"/>
          <a:stretch/>
        </p:blipFill>
        <p:spPr>
          <a:xfrm>
            <a:off x="5687640" y="3474720"/>
            <a:ext cx="273240" cy="273240"/>
          </a:xfrm>
          <a:prstGeom prst="rect">
            <a:avLst/>
          </a:prstGeom>
          <a:ln w="0">
            <a:noFill/>
          </a:ln>
        </p:spPr>
      </p:pic>
      <p:sp>
        <p:nvSpPr>
          <p:cNvPr id="175" name="Text 26"/>
          <p:cNvSpPr/>
          <p:nvPr/>
        </p:nvSpPr>
        <p:spPr>
          <a:xfrm>
            <a:off x="6035040" y="345636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8fafc"/>
                </a:solidFill>
                <a:latin typeface="Calibri"/>
                <a:ea typeface="Calibri"/>
              </a:rPr>
              <a:t>Reconnaissance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27"/>
          <p:cNvSpPr/>
          <p:nvPr/>
        </p:nvSpPr>
        <p:spPr>
          <a:xfrm>
            <a:off x="5669280" y="3886200"/>
            <a:ext cx="1279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cbd5e1"/>
                </a:solidFill>
                <a:latin typeface="Calibri"/>
                <a:ea typeface="Calibri"/>
              </a:rPr>
              <a:t>OSINT, subdomain enum, port scanning, fingerprinting, asset discovery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28"/>
          <p:cNvSpPr/>
          <p:nvPr/>
        </p:nvSpPr>
        <p:spPr>
          <a:xfrm>
            <a:off x="7818120" y="2926080"/>
            <a:ext cx="273240" cy="2732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9"/>
          <p:cNvSpPr/>
          <p:nvPr/>
        </p:nvSpPr>
        <p:spPr>
          <a:xfrm>
            <a:off x="7818120" y="292608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f1c"/>
                </a:solidFill>
                <a:latin typeface="Calibri"/>
                <a:ea typeface="Calibri"/>
              </a:rPr>
              <a:t>M5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30"/>
          <p:cNvSpPr/>
          <p:nvPr/>
        </p:nvSpPr>
        <p:spPr>
          <a:xfrm>
            <a:off x="7223760" y="1691640"/>
            <a:ext cx="1461960" cy="1187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31"/>
          <p:cNvSpPr/>
          <p:nvPr/>
        </p:nvSpPr>
        <p:spPr>
          <a:xfrm>
            <a:off x="7223760" y="2843640"/>
            <a:ext cx="1461960" cy="356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1" name="Image 4" descr="preencoded.png"/>
          <p:cNvPicPr/>
          <p:nvPr/>
        </p:nvPicPr>
        <p:blipFill>
          <a:blip r:embed="rId5"/>
          <a:stretch/>
        </p:blipFill>
        <p:spPr>
          <a:xfrm>
            <a:off x="7333560" y="1783080"/>
            <a:ext cx="273240" cy="273240"/>
          </a:xfrm>
          <a:prstGeom prst="rect">
            <a:avLst/>
          </a:prstGeom>
          <a:ln w="0">
            <a:noFill/>
          </a:ln>
        </p:spPr>
      </p:pic>
      <p:sp>
        <p:nvSpPr>
          <p:cNvPr id="182" name="Text 32"/>
          <p:cNvSpPr/>
          <p:nvPr/>
        </p:nvSpPr>
        <p:spPr>
          <a:xfrm>
            <a:off x="7680960" y="176472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8fafc"/>
                </a:solidFill>
                <a:latin typeface="Calibri"/>
                <a:ea typeface="Calibri"/>
              </a:rPr>
              <a:t>Vulnerability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8fafc"/>
                </a:solidFill>
                <a:latin typeface="Calibri"/>
                <a:ea typeface="Calibri"/>
              </a:rPr>
              <a:t>Assessment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33"/>
          <p:cNvSpPr/>
          <p:nvPr/>
        </p:nvSpPr>
        <p:spPr>
          <a:xfrm>
            <a:off x="7315200" y="2194560"/>
            <a:ext cx="1279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cbd5e1"/>
                </a:solidFill>
                <a:latin typeface="Calibri"/>
                <a:ea typeface="Calibri"/>
              </a:rPr>
              <a:t>OWASP Top 10, SQLi, XSS, SSRF, IDOR, broken access control, PoC writing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Num"/>
          <p:cNvSpPr/>
          <p:nvPr/>
        </p:nvSpPr>
        <p:spPr>
          <a:xfrm>
            <a:off x="731520" y="228600"/>
            <a:ext cx="913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00e5a0"/>
                </a:solidFill>
                <a:latin typeface="Impact"/>
              </a:rPr>
              <a:t>06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itle"/>
          <p:cNvSpPr/>
          <p:nvPr/>
        </p:nvSpPr>
        <p:spPr>
          <a:xfrm>
            <a:off x="731520" y="5943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400" spc="-1" strike="noStrike">
                <a:solidFill>
                  <a:srgbClr val="f8fafc"/>
                </a:solidFill>
                <a:latin typeface="Impact"/>
              </a:rPr>
              <a:t>Ementa, Recursos e Projetos Práticos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LabelBooks"/>
          <p:cNvSpPr/>
          <p:nvPr/>
        </p:nvSpPr>
        <p:spPr>
          <a:xfrm>
            <a:off x="731520" y="1188720"/>
            <a:ext cx="3885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6b6d4"/>
                </a:solidFill>
                <a:latin typeface="Calibri"/>
              </a:rPr>
              <a:t>LIVROS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Card1Bg"/>
          <p:cNvSpPr/>
          <p:nvPr/>
        </p:nvSpPr>
        <p:spPr>
          <a:xfrm>
            <a:off x="731520" y="1463040"/>
            <a:ext cx="3885480" cy="82224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Card1Acc"/>
          <p:cNvSpPr/>
          <p:nvPr/>
        </p:nvSpPr>
        <p:spPr>
          <a:xfrm>
            <a:off x="731520" y="1463040"/>
            <a:ext cx="54000" cy="8222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Card1Txt"/>
          <p:cNvSpPr/>
          <p:nvPr/>
        </p:nvSpPr>
        <p:spPr>
          <a:xfrm>
            <a:off x="914400" y="150876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50" spc="-1" strike="noStrike">
                <a:solidFill>
                  <a:srgbClr val="f8fafc"/>
                </a:solidFill>
                <a:latin typeface="Calibri"/>
              </a:rPr>
              <a:t>Computer Networking: A Top-Down Approach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900" spc="-1" strike="noStrike">
                <a:solidFill>
                  <a:srgbClr val="94a3b8"/>
                </a:solidFill>
                <a:latin typeface="Calibri"/>
              </a:rPr>
              <a:t>James F. Kurose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pt-BR" sz="900" spc="-1" strike="noStrike">
                <a:solidFill>
                  <a:srgbClr val="cbd5e1"/>
                </a:solidFill>
                <a:latin typeface="Calibri"/>
              </a:rPr>
              <a:t>Redes de Computadores: Uma Abordagem Top-Down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Card2Bg"/>
          <p:cNvSpPr/>
          <p:nvPr/>
        </p:nvSpPr>
        <p:spPr>
          <a:xfrm>
            <a:off x="731520" y="2377440"/>
            <a:ext cx="3885480" cy="82224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Card2Acc"/>
          <p:cNvSpPr/>
          <p:nvPr/>
        </p:nvSpPr>
        <p:spPr>
          <a:xfrm>
            <a:off x="731520" y="2377440"/>
            <a:ext cx="54000" cy="8222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Card2Txt"/>
          <p:cNvSpPr/>
          <p:nvPr/>
        </p:nvSpPr>
        <p:spPr>
          <a:xfrm>
            <a:off x="914400" y="242316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50" spc="-1" strike="noStrike">
                <a:solidFill>
                  <a:srgbClr val="f8fafc"/>
                </a:solidFill>
                <a:latin typeface="Calibri"/>
              </a:rPr>
              <a:t>The Web Application Hacker’s Handbook, 2nd Ed.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900" spc="-1" strike="noStrike">
                <a:solidFill>
                  <a:srgbClr val="94a3b8"/>
                </a:solidFill>
                <a:latin typeface="Calibri"/>
              </a:rPr>
              <a:t>Dafydd Stuttard &amp; Marcus Pinto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pt-BR" sz="900" spc="-1" strike="noStrike">
                <a:solidFill>
                  <a:srgbClr val="cbd5e1"/>
                </a:solidFill>
                <a:latin typeface="Calibri"/>
              </a:rPr>
              <a:t>Manual do Hacker de Aplicações Web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Card3Bg"/>
          <p:cNvSpPr/>
          <p:nvPr/>
        </p:nvSpPr>
        <p:spPr>
          <a:xfrm>
            <a:off x="731520" y="3291840"/>
            <a:ext cx="3885480" cy="82224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Card3Acc"/>
          <p:cNvSpPr/>
          <p:nvPr/>
        </p:nvSpPr>
        <p:spPr>
          <a:xfrm>
            <a:off x="731520" y="3291840"/>
            <a:ext cx="54000" cy="8222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Card3Txt"/>
          <p:cNvSpPr/>
          <p:nvPr/>
        </p:nvSpPr>
        <p:spPr>
          <a:xfrm>
            <a:off x="914400" y="333756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50" spc="-1" strike="noStrike">
                <a:solidFill>
                  <a:srgbClr val="f8fafc"/>
                </a:solidFill>
                <a:latin typeface="Calibri"/>
              </a:rPr>
              <a:t>Real-World Bug Hunting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900" spc="-1" strike="noStrike">
                <a:solidFill>
                  <a:srgbClr val="94a3b8"/>
                </a:solidFill>
                <a:latin typeface="Calibri"/>
              </a:rPr>
              <a:t>Peter Yaworski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pt-BR" sz="900" spc="-1" strike="noStrike">
                <a:solidFill>
                  <a:srgbClr val="cbd5e1"/>
                </a:solidFill>
                <a:latin typeface="Calibri"/>
              </a:rPr>
              <a:t>Caça a Bugs no Mundo Real – Um Guia Prático para Hacking Web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LabelProj"/>
          <p:cNvSpPr/>
          <p:nvPr/>
        </p:nvSpPr>
        <p:spPr>
          <a:xfrm>
            <a:off x="4937760" y="1188720"/>
            <a:ext cx="3885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e5a0"/>
                </a:solidFill>
                <a:latin typeface="Calibri"/>
              </a:rPr>
              <a:t>PROJETOS PRÁTICOS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roj1Bg"/>
          <p:cNvSpPr/>
          <p:nvPr/>
        </p:nvSpPr>
        <p:spPr>
          <a:xfrm>
            <a:off x="4937760" y="1463040"/>
            <a:ext cx="3885480" cy="7308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roj1Acc"/>
          <p:cNvSpPr/>
          <p:nvPr/>
        </p:nvSpPr>
        <p:spPr>
          <a:xfrm>
            <a:off x="4937760" y="1463040"/>
            <a:ext cx="54000" cy="73080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Proj1Txt"/>
          <p:cNvSpPr/>
          <p:nvPr/>
        </p:nvSpPr>
        <p:spPr>
          <a:xfrm>
            <a:off x="5120640" y="150876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50" spc="-1" strike="noStrike">
                <a:solidFill>
                  <a:srgbClr val="f8fafc"/>
                </a:solidFill>
                <a:latin typeface="Calibri"/>
              </a:rPr>
              <a:t>Aplicação Web – Flask + MySQL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900" spc="-1" strike="noStrike">
                <a:solidFill>
                  <a:srgbClr val="cbd5e1"/>
                </a:solidFill>
                <a:latin typeface="Calibri"/>
              </a:rPr>
              <a:t>Controles de identidade e acesso (autenticação, autorização, sessões)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roj2Bg"/>
          <p:cNvSpPr/>
          <p:nvPr/>
        </p:nvSpPr>
        <p:spPr>
          <a:xfrm>
            <a:off x="4937760" y="2286000"/>
            <a:ext cx="3885480" cy="7308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roj2Acc"/>
          <p:cNvSpPr/>
          <p:nvPr/>
        </p:nvSpPr>
        <p:spPr>
          <a:xfrm>
            <a:off x="4937760" y="2286000"/>
            <a:ext cx="54000" cy="73080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roj2Txt"/>
          <p:cNvSpPr/>
          <p:nvPr/>
        </p:nvSpPr>
        <p:spPr>
          <a:xfrm>
            <a:off x="5120640" y="233172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50" spc="-1" strike="noStrike">
                <a:solidFill>
                  <a:srgbClr val="f8fafc"/>
                </a:solidFill>
                <a:latin typeface="Calibri"/>
              </a:rPr>
              <a:t>Kali Linux – Configuração do Ambiente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900" spc="-1" strike="noStrike">
                <a:solidFill>
                  <a:srgbClr val="cbd5e1"/>
                </a:solidFill>
                <a:latin typeface="Calibri"/>
              </a:rPr>
              <a:t>VM, Docker, VPNs e instalação de ferramentas de pentest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LabelPlat"/>
          <p:cNvSpPr/>
          <p:nvPr/>
        </p:nvSpPr>
        <p:spPr>
          <a:xfrm>
            <a:off x="4937760" y="3108960"/>
            <a:ext cx="3885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8b5cf6"/>
                </a:solidFill>
                <a:latin typeface="Calibri"/>
              </a:rPr>
              <a:t>PLATAFORMAS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HTBBg"/>
          <p:cNvSpPr/>
          <p:nvPr/>
        </p:nvSpPr>
        <p:spPr>
          <a:xfrm>
            <a:off x="4937760" y="3383280"/>
            <a:ext cx="3885480" cy="7308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HTBAcc"/>
          <p:cNvSpPr/>
          <p:nvPr/>
        </p:nvSpPr>
        <p:spPr>
          <a:xfrm>
            <a:off x="4937760" y="3383280"/>
            <a:ext cx="54000" cy="7308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HTBTxt"/>
          <p:cNvSpPr/>
          <p:nvPr/>
        </p:nvSpPr>
        <p:spPr>
          <a:xfrm>
            <a:off x="5120640" y="342900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50" spc="-1" strike="noStrike">
                <a:solidFill>
                  <a:srgbClr val="f8fafc"/>
                </a:solidFill>
                <a:latin typeface="Calibri"/>
              </a:rPr>
              <a:t>Hack The Box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900" spc="-1" strike="noStrike">
                <a:solidFill>
                  <a:srgbClr val="cbd5e1"/>
                </a:solidFill>
                <a:latin typeface="Calibri"/>
              </a:rPr>
              <a:t>Máquinas vulneráveis para ilustrar os conceitos discutidos em aula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PSBg"/>
          <p:cNvSpPr/>
          <p:nvPr/>
        </p:nvSpPr>
        <p:spPr>
          <a:xfrm>
            <a:off x="4937760" y="4206240"/>
            <a:ext cx="3885480" cy="7308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SAcc"/>
          <p:cNvSpPr/>
          <p:nvPr/>
        </p:nvSpPr>
        <p:spPr>
          <a:xfrm>
            <a:off x="4937760" y="4206240"/>
            <a:ext cx="54000" cy="7308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STxt"/>
          <p:cNvSpPr/>
          <p:nvPr/>
        </p:nvSpPr>
        <p:spPr>
          <a:xfrm>
            <a:off x="5120640" y="425196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50" spc="-1" strike="noStrike">
                <a:solidFill>
                  <a:srgbClr val="f8fafc"/>
                </a:solidFill>
                <a:latin typeface="Calibri"/>
              </a:rPr>
              <a:t>PortSwigger Academy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900" spc="-1" strike="noStrike">
                <a:solidFill>
                  <a:srgbClr val="cbd5e1"/>
                </a:solidFill>
                <a:latin typeface="Calibri"/>
              </a:rPr>
              <a:t>Aprofundar cenários de exploração de vulnerabilidades de maneira prática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0"/>
          <p:cNvSpPr/>
          <p:nvPr/>
        </p:nvSpPr>
        <p:spPr>
          <a:xfrm>
            <a:off x="-914400" y="-914400"/>
            <a:ext cx="3656520" cy="3656520"/>
          </a:xfrm>
          <a:prstGeom prst="ellipse">
            <a:avLst/>
          </a:prstGeom>
          <a:solidFill>
            <a:srgbClr val="00e5a0">
              <a:alpha val="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21"/>
          <p:cNvSpPr/>
          <p:nvPr/>
        </p:nvSpPr>
        <p:spPr>
          <a:xfrm>
            <a:off x="6373800" y="2743200"/>
            <a:ext cx="4570920" cy="4570920"/>
          </a:xfrm>
          <a:prstGeom prst="ellipse">
            <a:avLst/>
          </a:prstGeom>
          <a:solidFill>
            <a:srgbClr val="8b5cf6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2" name="Image 5" descr="preencoded.png"/>
          <p:cNvPicPr/>
          <p:nvPr/>
        </p:nvPicPr>
        <p:blipFill>
          <a:blip r:embed="rId1"/>
          <a:stretch/>
        </p:blipFill>
        <p:spPr>
          <a:xfrm>
            <a:off x="4114800" y="731520"/>
            <a:ext cx="913320" cy="913320"/>
          </a:xfrm>
          <a:prstGeom prst="rect">
            <a:avLst/>
          </a:prstGeom>
          <a:ln w="0">
            <a:noFill/>
          </a:ln>
        </p:spPr>
      </p:pic>
      <p:sp>
        <p:nvSpPr>
          <p:cNvPr id="213" name="Text 22"/>
          <p:cNvSpPr/>
          <p:nvPr/>
        </p:nvSpPr>
        <p:spPr>
          <a:xfrm>
            <a:off x="914400" y="1828800"/>
            <a:ext cx="73141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f8fafc"/>
                </a:solidFill>
                <a:latin typeface="Impact"/>
                <a:ea typeface="Impact"/>
              </a:rPr>
              <a:t>Dúvidas?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23"/>
          <p:cNvSpPr/>
          <p:nvPr/>
        </p:nvSpPr>
        <p:spPr>
          <a:xfrm>
            <a:off x="3657600" y="3383280"/>
            <a:ext cx="1827720" cy="35640"/>
          </a:xfrm>
          <a:prstGeom prst="rect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2026-05-25T16:48:36Z</dcterms:created>
  <dc:creator>Hackerspace</dc:creator>
  <dc:description/>
  <dc:language>en-US</dc:language>
  <cp:lastModifiedBy/>
  <dcterms:modified xsi:type="dcterms:W3CDTF">2026-05-26T00:40:26Z</dcterms:modified>
  <cp:revision>4</cp:revision>
  <dc:subject>PptxGenJS Presentation</dc:subject>
  <dc:title>Introdução à Cibersegurança - Hackerspace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